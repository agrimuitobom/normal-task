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94C4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88952" cy="2286000"/>
          </a:xfrm>
          <a:prstGeom prst="rect">
            <a:avLst/>
          </a:prstGeom>
          <a:solidFill>
            <a:srgbClr val="16213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游ゴシック"/>
              </a:rPr>
              <a:t>業務効率化・1時間早く帰れる
生成AI術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0332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E0E0E8"/>
                </a:solidFill>
                <a:latin typeface="游ゴシック"/>
              </a:rPr>
              <a:t>教職員向け研修会　　令和7年3月9日（月）16:00〜17:00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4389120"/>
            <a:ext cx="6702552" cy="36576"/>
          </a:xfrm>
          <a:prstGeom prst="rect">
            <a:avLst/>
          </a:prstGeom>
          <a:solidFill>
            <a:srgbClr val="E94C4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E0E0E8"/>
                </a:solidFill>
                <a:latin typeface="游ゴシック"/>
              </a:rPr>
              <a:t>○○農業高等学校　　主催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94C4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94C4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94C4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88952" cy="1005840"/>
          </a:xfrm>
          <a:prstGeom prst="rect">
            <a:avLst/>
          </a:prstGeom>
          <a:solidFill>
            <a:srgbClr val="16213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游ゴシック"/>
              </a:rPr>
              <a:t>本日のアジェンダ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005840" cy="548640"/>
          </a:xfrm>
          <a:prstGeom prst="rect">
            <a:avLst/>
          </a:prstGeom>
          <a:solidFill>
            <a:srgbClr val="E94C4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3096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游ゴシック"/>
              </a:rPr>
              <a:t>16:00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28016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游ゴシック"/>
              </a:rPr>
              <a:t>① イントロ・研修の目的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01952"/>
            <a:ext cx="10789920" cy="18288"/>
          </a:xfrm>
          <a:prstGeom prst="rect">
            <a:avLst/>
          </a:prstGeom>
          <a:solidFill>
            <a:srgbClr val="44446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075688"/>
            <a:ext cx="1005840" cy="548640"/>
          </a:xfrm>
          <a:prstGeom prst="rect">
            <a:avLst/>
          </a:prstGeom>
          <a:solidFill>
            <a:srgbClr val="E94C4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26488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游ゴシック"/>
              </a:rPr>
              <a:t>16:10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07568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游ゴシック"/>
              </a:rPr>
              <a:t>② ルーブリック評価表の作成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697480"/>
            <a:ext cx="10789920" cy="18288"/>
          </a:xfrm>
          <a:prstGeom prst="rect">
            <a:avLst/>
          </a:prstGeom>
          <a:solidFill>
            <a:srgbClr val="44446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871216"/>
            <a:ext cx="1005840" cy="548640"/>
          </a:xfrm>
          <a:prstGeom prst="rect">
            <a:avLst/>
          </a:prstGeom>
          <a:solidFill>
            <a:srgbClr val="E94C4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922016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游ゴシック"/>
              </a:rPr>
              <a:t>16:22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2871216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游ゴシック"/>
              </a:rPr>
              <a:t>③ 稟議書・公文書の作成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493008"/>
            <a:ext cx="10789920" cy="18288"/>
          </a:xfrm>
          <a:prstGeom prst="rect">
            <a:avLst/>
          </a:prstGeom>
          <a:solidFill>
            <a:srgbClr val="44446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666744"/>
            <a:ext cx="1005840" cy="548640"/>
          </a:xfrm>
          <a:prstGeom prst="rect">
            <a:avLst/>
          </a:prstGeom>
          <a:solidFill>
            <a:srgbClr val="E94C4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717544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游ゴシック"/>
              </a:rPr>
              <a:t>16:34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3666744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游ゴシック"/>
              </a:rPr>
              <a:t>④ 授業案の作成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288536"/>
            <a:ext cx="10789920" cy="18288"/>
          </a:xfrm>
          <a:prstGeom prst="rect">
            <a:avLst/>
          </a:prstGeom>
          <a:solidFill>
            <a:srgbClr val="44446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462272"/>
            <a:ext cx="1005840" cy="548640"/>
          </a:xfrm>
          <a:prstGeom prst="rect">
            <a:avLst/>
          </a:prstGeom>
          <a:solidFill>
            <a:srgbClr val="E94C4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513072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游ゴシック"/>
              </a:rPr>
              <a:t>16:46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462272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游ゴシック"/>
              </a:rPr>
              <a:t>⑤ ワークシートの作成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084064"/>
            <a:ext cx="10789920" cy="18288"/>
          </a:xfrm>
          <a:prstGeom prst="rect">
            <a:avLst/>
          </a:prstGeom>
          <a:solidFill>
            <a:srgbClr val="44446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5257800"/>
            <a:ext cx="1005840" cy="548640"/>
          </a:xfrm>
          <a:prstGeom prst="rect">
            <a:avLst/>
          </a:prstGeom>
          <a:solidFill>
            <a:srgbClr val="E94C4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30860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游ゴシック"/>
              </a:rPr>
              <a:t>16:55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525780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游ゴシック"/>
              </a:rPr>
              <a:t>⑥ Q&amp;A・まとめ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94C4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94C4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88952" cy="1005840"/>
          </a:xfrm>
          <a:prstGeom prst="rect">
            <a:avLst/>
          </a:prstGeom>
          <a:solidFill>
            <a:srgbClr val="16213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游ゴシック"/>
              </a:rPr>
              <a:t>なぜ今、生成AI？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640080" cy="1005840"/>
          </a:xfrm>
          <a:prstGeom prst="rect">
            <a:avLst/>
          </a:prstGeom>
          <a:solidFill>
            <a:srgbClr val="E94C4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640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FFFFFF"/>
                </a:solidFill>
                <a:latin typeface="游ゴシック"/>
              </a:rPr>
              <a:t>😓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371600"/>
            <a:ext cx="1097280" cy="1005840"/>
          </a:xfrm>
          <a:prstGeom prst="rect">
            <a:avLst/>
          </a:prstGeom>
          <a:solidFill>
            <a:srgbClr val="16213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371600"/>
            <a:ext cx="1097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D700"/>
                </a:solidFill>
                <a:latin typeface="游ゴシック"/>
              </a:rPr>
              <a:t>問題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157276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游ゴシック"/>
              </a:rPr>
              <a:t>教材・文書作成に毎日1〜2時間以上かかっている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834640"/>
            <a:ext cx="640080" cy="1005840"/>
          </a:xfrm>
          <a:prstGeom prst="rect">
            <a:avLst/>
          </a:prstGeom>
          <a:solidFill>
            <a:srgbClr val="E94C4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834640"/>
            <a:ext cx="640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FFFFFF"/>
                </a:solidFill>
                <a:latin typeface="游ゴシック"/>
              </a:rPr>
              <a:t>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2834640"/>
            <a:ext cx="1097280" cy="1005840"/>
          </a:xfrm>
          <a:prstGeom prst="rect">
            <a:avLst/>
          </a:prstGeom>
          <a:solidFill>
            <a:srgbClr val="16213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834640"/>
            <a:ext cx="1097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D700"/>
                </a:solidFill>
                <a:latin typeface="游ゴシック"/>
              </a:rPr>
              <a:t>解決策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303580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游ゴシック"/>
              </a:rPr>
              <a:t>生成AIを使えば同じ品質の成果物を10〜20分で作れる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297680"/>
            <a:ext cx="640080" cy="1005840"/>
          </a:xfrm>
          <a:prstGeom prst="rect">
            <a:avLst/>
          </a:prstGeom>
          <a:solidFill>
            <a:srgbClr val="E94C4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297680"/>
            <a:ext cx="640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FFFFFF"/>
                </a:solidFill>
                <a:latin typeface="游ゴシック"/>
              </a:rPr>
              <a:t>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4297680"/>
            <a:ext cx="1097280" cy="1005840"/>
          </a:xfrm>
          <a:prstGeom prst="rect">
            <a:avLst/>
          </a:prstGeom>
          <a:solidFill>
            <a:srgbClr val="16213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297680"/>
            <a:ext cx="1097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D700"/>
                </a:solidFill>
                <a:latin typeface="游ゴシック"/>
              </a:rPr>
              <a:t>目標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449884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游ゴシック"/>
              </a:rPr>
              <a:t>本研修後、今日から業務時間を1時間以上短縮する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94C4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94C4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88952" cy="1188720"/>
          </a:xfrm>
          <a:prstGeom prst="rect">
            <a:avLst/>
          </a:prstGeom>
          <a:solidFill>
            <a:srgbClr val="16213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游ゴシック"/>
              </a:rPr>
              <a:t>① ルーブリック評価表の作成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0E0E8"/>
                </a:solidFill>
                <a:latin typeface="游ゴシック"/>
              </a:rPr>
              <a:t>観点別評価規準をAIで一瞬に作る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02920" cy="502920"/>
          </a:xfrm>
          <a:prstGeom prst="rect">
            <a:avLst/>
          </a:prstGeom>
          <a:solidFill>
            <a:srgbClr val="E94C4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630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游ゴシック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4630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D700"/>
                </a:solidFill>
                <a:latin typeface="游ゴシック"/>
              </a:rPr>
              <a:t>プロンプトを入力する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93852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0E0E8"/>
                </a:solidFill>
                <a:latin typeface="游ゴシック"/>
              </a:rPr>
              <a:t>「農業科○○単元のルーブリック評価表を4観点で作って」と入力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514600"/>
            <a:ext cx="502920" cy="502920"/>
          </a:xfrm>
          <a:prstGeom prst="rect">
            <a:avLst/>
          </a:prstGeom>
          <a:solidFill>
            <a:srgbClr val="E94C4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514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游ゴシック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51460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D700"/>
                </a:solidFill>
                <a:latin typeface="游ゴシック"/>
              </a:rPr>
              <a:t>AIが表を生成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99008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0E0E8"/>
                </a:solidFill>
                <a:latin typeface="游ゴシック"/>
              </a:rPr>
              <a:t>知識・技能・思考・主体性の4列×5段階の評価表が数秒で完成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566160"/>
            <a:ext cx="502920" cy="502920"/>
          </a:xfrm>
          <a:prstGeom prst="rect">
            <a:avLst/>
          </a:prstGeom>
          <a:solidFill>
            <a:srgbClr val="E94C4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5661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游ゴシック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56616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D700"/>
                </a:solidFill>
                <a:latin typeface="游ゴシック"/>
              </a:rPr>
              <a:t>修正・微調整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04164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0E0E8"/>
                </a:solidFill>
                <a:latin typeface="游ゴシック"/>
              </a:rPr>
              <a:t>「○○の観点をより具体的に」と追加指示して仕上げる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617720"/>
            <a:ext cx="502920" cy="502920"/>
          </a:xfrm>
          <a:prstGeom prst="rect">
            <a:avLst/>
          </a:prstGeom>
          <a:solidFill>
            <a:srgbClr val="E94C4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6177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游ゴシック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61772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D700"/>
                </a:solidFill>
                <a:latin typeface="游ゴシック"/>
              </a:rPr>
              <a:t>コピー&amp;ペースト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09320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0E0E8"/>
                </a:solidFill>
                <a:latin typeface="游ゴシック"/>
              </a:rPr>
              <a:t>Wordに貼り付けて完成。所要時間：約10分→従来の1/5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943600"/>
            <a:ext cx="11338560" cy="640080"/>
          </a:xfrm>
          <a:prstGeom prst="rect">
            <a:avLst/>
          </a:prstGeom>
          <a:solidFill>
            <a:srgbClr val="2A2A4A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989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D700"/>
                </a:solidFill>
                <a:latin typeface="游ゴシック"/>
              </a:rPr>
              <a:t>💡 ポイント：学習指導要領の文言をそのまま使うと精度が上がる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94C4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94C4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88952" cy="1188720"/>
          </a:xfrm>
          <a:prstGeom prst="rect">
            <a:avLst/>
          </a:prstGeom>
          <a:solidFill>
            <a:srgbClr val="16213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游ゴシック"/>
              </a:rPr>
              <a:t>② 稟議書・公文書の作成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0E0E8"/>
                </a:solidFill>
                <a:latin typeface="游ゴシック"/>
              </a:rPr>
              <a:t>定型文書を素早く・高品質に仕上げるプロンプト術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02920" cy="502920"/>
          </a:xfrm>
          <a:prstGeom prst="rect">
            <a:avLst/>
          </a:prstGeom>
          <a:solidFill>
            <a:srgbClr val="E94C4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630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游ゴシック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4630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D700"/>
                </a:solidFill>
                <a:latin typeface="游ゴシック"/>
              </a:rPr>
              <a:t>目的・件名を伝える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93852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0E0E8"/>
                </a:solidFill>
                <a:latin typeface="游ゴシック"/>
              </a:rPr>
              <a:t>「生成AI研修会の実施について、校長宛の稟議書を作って」と入力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514600"/>
            <a:ext cx="502920" cy="502920"/>
          </a:xfrm>
          <a:prstGeom prst="rect">
            <a:avLst/>
          </a:prstGeom>
          <a:solidFill>
            <a:srgbClr val="E94C4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514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游ゴシック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51460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D700"/>
                </a:solidFill>
                <a:latin typeface="游ゴシック"/>
              </a:rPr>
              <a:t>詳細条件を追加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99008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0E0E8"/>
                </a:solidFill>
                <a:latin typeface="游ゴシック"/>
              </a:rPr>
              <a:t>日時・対象者・費用（無料）・期待効果などを箇条書きで渡す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566160"/>
            <a:ext cx="502920" cy="502920"/>
          </a:xfrm>
          <a:prstGeom prst="rect">
            <a:avLst/>
          </a:prstGeom>
          <a:solidFill>
            <a:srgbClr val="E94C4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5661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游ゴシック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56616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D700"/>
                </a:solidFill>
                <a:latin typeface="游ゴシック"/>
              </a:rPr>
              <a:t>文体の調整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04164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0E0E8"/>
                </a:solidFill>
                <a:latin typeface="游ゴシック"/>
              </a:rPr>
              <a:t>「公用文形式で、漢字を多めに」など体裁を指示して再生成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617720"/>
            <a:ext cx="502920" cy="502920"/>
          </a:xfrm>
          <a:prstGeom prst="rect">
            <a:avLst/>
          </a:prstGeom>
          <a:solidFill>
            <a:srgbClr val="E94C4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6177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游ゴシック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61772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D700"/>
                </a:solidFill>
                <a:latin typeface="游ゴシック"/>
              </a:rPr>
              <a:t>確認・保存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09320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0E0E8"/>
                </a:solidFill>
                <a:latin typeface="游ゴシック"/>
              </a:rPr>
              <a:t>内容を確認してWordに貼り付け。所要時間：約15分→従来の1/4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943600"/>
            <a:ext cx="11338560" cy="640080"/>
          </a:xfrm>
          <a:prstGeom prst="rect">
            <a:avLst/>
          </a:prstGeom>
          <a:solidFill>
            <a:srgbClr val="2A2A4A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989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D700"/>
                </a:solidFill>
                <a:latin typeface="游ゴシック"/>
              </a:rPr>
              <a:t>💡 ポイント：「〇〇形式で」「〇〇向けに」など制約を加えると品質UP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94C4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94C4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88952" cy="1188720"/>
          </a:xfrm>
          <a:prstGeom prst="rect">
            <a:avLst/>
          </a:prstGeom>
          <a:solidFill>
            <a:srgbClr val="16213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游ゴシック"/>
              </a:rPr>
              <a:t>③ 授業案の作成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0E0E8"/>
                </a:solidFill>
                <a:latin typeface="游ゴシック"/>
              </a:rPr>
              <a:t>学習指導要領に沿った授業展開案を短時間で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02920" cy="502920"/>
          </a:xfrm>
          <a:prstGeom prst="rect">
            <a:avLst/>
          </a:prstGeom>
          <a:solidFill>
            <a:srgbClr val="E94C4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630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游ゴシック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4630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D700"/>
                </a:solidFill>
                <a:latin typeface="游ゴシック"/>
              </a:rPr>
              <a:t>単元・学年・時数を伝える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93852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0E0E8"/>
                </a:solidFill>
                <a:latin typeface="游ゴシック"/>
              </a:rPr>
              <a:t>「農業科・○○単元・高校2年・50分×3時間の授業案を作って」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514600"/>
            <a:ext cx="502920" cy="502920"/>
          </a:xfrm>
          <a:prstGeom prst="rect">
            <a:avLst/>
          </a:prstGeom>
          <a:solidFill>
            <a:srgbClr val="E94C4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514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游ゴシック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51460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D700"/>
                </a:solidFill>
                <a:latin typeface="游ゴシック"/>
              </a:rPr>
              <a:t>展開案が自動生成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99008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0E0E8"/>
                </a:solidFill>
                <a:latin typeface="游ゴシック"/>
              </a:rPr>
              <a:t>導入→展開→まとめの3段構成で指導内容・発問・評価が出力される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566160"/>
            <a:ext cx="502920" cy="502920"/>
          </a:xfrm>
          <a:prstGeom prst="rect">
            <a:avLst/>
          </a:prstGeom>
          <a:solidFill>
            <a:srgbClr val="E94C4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5661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游ゴシック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56616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D700"/>
                </a:solidFill>
                <a:latin typeface="游ゴシック"/>
              </a:rPr>
              <a:t>実態に合わせて修正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04164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0E0E8"/>
                </a:solidFill>
                <a:latin typeface="游ゴシック"/>
              </a:rPr>
              <a:t>「○○農業高校の生徒向けに農場実習の例を入れて」と追加指示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617720"/>
            <a:ext cx="502920" cy="502920"/>
          </a:xfrm>
          <a:prstGeom prst="rect">
            <a:avLst/>
          </a:prstGeom>
          <a:solidFill>
            <a:srgbClr val="E94C4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6177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游ゴシック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61772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D700"/>
                </a:solidFill>
                <a:latin typeface="游ゴシック"/>
              </a:rPr>
              <a:t>完成・印刷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09320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0E0E8"/>
                </a:solidFill>
                <a:latin typeface="游ゴシック"/>
              </a:rPr>
              <a:t>学習指導案の形式に整えてWordへ貼り付け。約20分→従来の1/3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943600"/>
            <a:ext cx="11338560" cy="640080"/>
          </a:xfrm>
          <a:prstGeom prst="rect">
            <a:avLst/>
          </a:prstGeom>
          <a:solidFill>
            <a:srgbClr val="2A2A4A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989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D700"/>
                </a:solidFill>
                <a:latin typeface="游ゴシック"/>
              </a:rPr>
              <a:t>💡 ポイント：指導要録の観点（知・技・思・主）を明示すると精度が上がる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94C4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94C4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88952" cy="1188720"/>
          </a:xfrm>
          <a:prstGeom prst="rect">
            <a:avLst/>
          </a:prstGeom>
          <a:solidFill>
            <a:srgbClr val="16213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游ゴシック"/>
              </a:rPr>
              <a:t>④ ワークシートの作成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0E0E8"/>
                </a:solidFill>
                <a:latin typeface="游ゴシック"/>
              </a:rPr>
              <a:t>生徒の実態に合わせたワークシートをAIで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02920" cy="502920"/>
          </a:xfrm>
          <a:prstGeom prst="rect">
            <a:avLst/>
          </a:prstGeom>
          <a:solidFill>
            <a:srgbClr val="E94C4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630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游ゴシック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4630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D700"/>
                </a:solidFill>
                <a:latin typeface="游ゴシック"/>
              </a:rPr>
              <a:t>単元・目標・形式を指定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93852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0E0E8"/>
                </a:solidFill>
                <a:latin typeface="游ゴシック"/>
              </a:rPr>
              <a:t>「○○単元、理解確認用、穴埋め＋記述の混合、A4・1枚」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514600"/>
            <a:ext cx="502920" cy="502920"/>
          </a:xfrm>
          <a:prstGeom prst="rect">
            <a:avLst/>
          </a:prstGeom>
          <a:solidFill>
            <a:srgbClr val="E94C4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514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游ゴシック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51460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D700"/>
                </a:solidFill>
                <a:latin typeface="游ゴシック"/>
              </a:rPr>
              <a:t>シートが生成される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99008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0E0E8"/>
                </a:solidFill>
                <a:latin typeface="游ゴシック"/>
              </a:rPr>
              <a:t>設問・解答欄・キーワード枠が自動配置されたワークシートが完成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566160"/>
            <a:ext cx="502920" cy="502920"/>
          </a:xfrm>
          <a:prstGeom prst="rect">
            <a:avLst/>
          </a:prstGeom>
          <a:solidFill>
            <a:srgbClr val="E94C4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5661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游ゴシック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56616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D700"/>
                </a:solidFill>
                <a:latin typeface="游ゴシック"/>
              </a:rPr>
              <a:t>難易度・量を調整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04164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0E0E8"/>
                </a:solidFill>
                <a:latin typeface="游ゴシック"/>
              </a:rPr>
              <a:t>「難しすぎるので設問を3問減らして、ヒントを追加して」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617720"/>
            <a:ext cx="502920" cy="502920"/>
          </a:xfrm>
          <a:prstGeom prst="rect">
            <a:avLst/>
          </a:prstGeom>
          <a:solidFill>
            <a:srgbClr val="E94C4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6177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游ゴシック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61772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D700"/>
                </a:solidFill>
                <a:latin typeface="游ゴシック"/>
              </a:rPr>
              <a:t>コピー→印刷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09320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0E0E8"/>
                </a:solidFill>
                <a:latin typeface="游ゴシック"/>
              </a:rPr>
              <a:t>Word/Googleドキュメントに貼り付けて印刷。約30分→約10分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943600"/>
            <a:ext cx="11338560" cy="640080"/>
          </a:xfrm>
          <a:prstGeom prst="rect">
            <a:avLst/>
          </a:prstGeom>
          <a:solidFill>
            <a:srgbClr val="2A2A4A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989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D700"/>
                </a:solidFill>
                <a:latin typeface="游ゴシック"/>
              </a:rPr>
              <a:t>💡 ポイント：「○○が苦手な生徒向けに」など生徒像を伝えるとベスト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94C4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94C4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88952" cy="1005840"/>
          </a:xfrm>
          <a:prstGeom prst="rect">
            <a:avLst/>
          </a:prstGeom>
          <a:solidFill>
            <a:srgbClr val="16213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游ゴシック"/>
              </a:rPr>
              <a:t>今日から使える！まとめ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486400" cy="1645920"/>
          </a:xfrm>
          <a:prstGeom prst="rect">
            <a:avLst/>
          </a:prstGeom>
          <a:solidFill>
            <a:srgbClr val="16213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486400" cy="502920"/>
          </a:xfrm>
          <a:prstGeom prst="rect">
            <a:avLst/>
          </a:prstGeom>
          <a:solidFill>
            <a:srgbClr val="E94C4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游ゴシック"/>
              </a:rPr>
              <a:t>ルーブリック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2024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游ゴシック"/>
              </a:rPr>
              <a:t>10分で4観点・5段階の評価表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5486400" cy="1645920"/>
          </a:xfrm>
          <a:prstGeom prst="rect">
            <a:avLst/>
          </a:prstGeom>
          <a:solidFill>
            <a:srgbClr val="16213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371600"/>
            <a:ext cx="5486400" cy="502920"/>
          </a:xfrm>
          <a:prstGeom prst="rect">
            <a:avLst/>
          </a:prstGeom>
          <a:solidFill>
            <a:srgbClr val="E94C4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3716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游ゴシック"/>
              </a:rPr>
              <a:t>稟議書・公文書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92024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游ゴシック"/>
              </a:rPr>
              <a:t>15分でそのまま使える公用文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91840"/>
            <a:ext cx="5486400" cy="1645920"/>
          </a:xfrm>
          <a:prstGeom prst="rect">
            <a:avLst/>
          </a:prstGeom>
          <a:solidFill>
            <a:srgbClr val="16213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291840"/>
            <a:ext cx="5486400" cy="502920"/>
          </a:xfrm>
          <a:prstGeom prst="rect">
            <a:avLst/>
          </a:prstGeom>
          <a:solidFill>
            <a:srgbClr val="E94C4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29184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游ゴシック"/>
              </a:rPr>
              <a:t>授業案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84048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游ゴシック"/>
              </a:rPr>
              <a:t>20分で50分授業の展開案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3291840"/>
            <a:ext cx="5486400" cy="1645920"/>
          </a:xfrm>
          <a:prstGeom prst="rect">
            <a:avLst/>
          </a:prstGeom>
          <a:solidFill>
            <a:srgbClr val="16213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291840"/>
            <a:ext cx="5486400" cy="502920"/>
          </a:xfrm>
          <a:prstGeom prst="rect">
            <a:avLst/>
          </a:prstGeom>
          <a:solidFill>
            <a:srgbClr val="E94C4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329184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游ゴシック"/>
              </a:rPr>
              <a:t>ワークシート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84048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游ゴシック"/>
              </a:rPr>
              <a:t>10分で穴埋め＋記述の混合シート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303520"/>
            <a:ext cx="11430000" cy="777240"/>
          </a:xfrm>
          <a:prstGeom prst="rect">
            <a:avLst/>
          </a:prstGeom>
          <a:solidFill>
            <a:srgbClr val="E94C4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532180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游ゴシック"/>
              </a:rPr>
              <a:t>4つの業務で合計 約1時間以上の節約　→　毎日使えば年間200時間以上の削減！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94C4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94C4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560320"/>
            <a:ext cx="12188952" cy="1828800"/>
          </a:xfrm>
          <a:prstGeom prst="rect">
            <a:avLst/>
          </a:prstGeom>
          <a:solidFill>
            <a:srgbClr val="16213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60604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游ゴシック"/>
              </a:rPr>
              <a:t>ご参加ありがとうございました！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E0E0E8"/>
                </a:solidFill>
                <a:latin typeface="游ゴシック"/>
              </a:rPr>
              <a:t>まずは今日、1つだけ試してみましょう 🚀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4206240"/>
            <a:ext cx="5788152" cy="36576"/>
          </a:xfrm>
          <a:prstGeom prst="rect">
            <a:avLst/>
          </a:prstGeom>
          <a:solidFill>
            <a:srgbClr val="E94C4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38912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0E0E8"/>
                </a:solidFill>
                <a:latin typeface="游ゴシック"/>
              </a:rPr>
              <a:t>質問・相談はいつでも声をかけてください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4632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8888AA"/>
                </a:solidFill>
                <a:latin typeface="游ゴシック"/>
              </a:rPr>
              <a:t>○○農業高等学校　　令和7年3月9日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